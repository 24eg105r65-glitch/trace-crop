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24" y="-5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 DINESH KARTHIK" userId="22850fbb6fbe0d4e" providerId="LiveId" clId="{ABF74A30-45DF-4EAE-AB19-7ABFB46AEAA3}"/>
    <pc:docChg chg="undo custSel modSld">
      <pc:chgData name="N DINESH KARTHIK" userId="22850fbb6fbe0d4e" providerId="LiveId" clId="{ABF74A30-45DF-4EAE-AB19-7ABFB46AEAA3}" dt="2026-07-08T09:05:54.023" v="94" actId="1036"/>
      <pc:docMkLst>
        <pc:docMk/>
      </pc:docMkLst>
      <pc:sldChg chg="modSp mod">
        <pc:chgData name="N DINESH KARTHIK" userId="22850fbb6fbe0d4e" providerId="LiveId" clId="{ABF74A30-45DF-4EAE-AB19-7ABFB46AEAA3}" dt="2026-07-08T09:03:37.390" v="25" actId="14100"/>
        <pc:sldMkLst>
          <pc:docMk/>
          <pc:sldMk cId="0" sldId="262"/>
        </pc:sldMkLst>
        <pc:graphicFrameChg chg="mod modGraphic">
          <ac:chgData name="N DINESH KARTHIK" userId="22850fbb6fbe0d4e" providerId="LiveId" clId="{ABF74A30-45DF-4EAE-AB19-7ABFB46AEAA3}" dt="2026-07-08T09:03:37.390" v="25" actId="14100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 mod">
        <pc:chgData name="N DINESH KARTHIK" userId="22850fbb6fbe0d4e" providerId="LiveId" clId="{ABF74A30-45DF-4EAE-AB19-7ABFB46AEAA3}" dt="2026-07-08T09:05:54.023" v="94" actId="1036"/>
        <pc:sldMkLst>
          <pc:docMk/>
          <pc:sldMk cId="0" sldId="266"/>
        </pc:sldMkLst>
        <pc:spChg chg="mod">
          <ac:chgData name="N DINESH KARTHIK" userId="22850fbb6fbe0d4e" providerId="LiveId" clId="{ABF74A30-45DF-4EAE-AB19-7ABFB46AEAA3}" dt="2026-07-08T09:04:06.468" v="30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9:05:27.254" v="90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9:04:24.253" v="80" actId="1038"/>
          <ac:spMkLst>
            <pc:docMk/>
            <pc:sldMk cId="0" sldId="266"/>
            <ac:spMk id="9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9:05:32.414" v="91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9:04:44.699" v="84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9:05:39.110" v="92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9:05:06.942" v="87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9:05:45.588" v="93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N DINESH KARTHIK" userId="22850fbb6fbe0d4e" providerId="LiveId" clId="{ABF74A30-45DF-4EAE-AB19-7ABFB46AEAA3}" dt="2026-07-08T09:05:23.567" v="89" actId="1076"/>
          <ac:spMkLst>
            <pc:docMk/>
            <pc:sldMk cId="0" sldId="266"/>
            <ac:spMk id="15" creationId="{00000000-0000-0000-0000-000000000000}"/>
          </ac:spMkLst>
        </pc:spChg>
        <pc:picChg chg="mod">
          <ac:chgData name="N DINESH KARTHIK" userId="22850fbb6fbe0d4e" providerId="LiveId" clId="{ABF74A30-45DF-4EAE-AB19-7ABFB46AEAA3}" dt="2026-07-08T09:05:54.023" v="94" actId="1036"/>
          <ac:picMkLst>
            <pc:docMk/>
            <pc:sldMk cId="0" sldId="266"/>
            <ac:picMk id="2" creationId="{00000000-0000-0000-0000-000000000000}"/>
          </ac:picMkLst>
        </pc:picChg>
      </pc:sldChg>
      <pc:sldChg chg="modSp mod">
        <pc:chgData name="N DINESH KARTHIK" userId="22850fbb6fbe0d4e" providerId="LiveId" clId="{ABF74A30-45DF-4EAE-AB19-7ABFB46AEAA3}" dt="2026-07-08T08:59:35.026" v="7" actId="1076"/>
        <pc:sldMkLst>
          <pc:docMk/>
          <pc:sldMk cId="0" sldId="269"/>
        </pc:sldMkLst>
        <pc:picChg chg="mod modCrop">
          <ac:chgData name="N DINESH KARTHIK" userId="22850fbb6fbe0d4e" providerId="LiveId" clId="{ABF74A30-45DF-4EAE-AB19-7ABFB46AEAA3}" dt="2026-07-08T08:59:35.026" v="7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mod">
        <pc:chgData name="N DINESH KARTHIK" userId="22850fbb6fbe0d4e" providerId="LiveId" clId="{ABF74A30-45DF-4EAE-AB19-7ABFB46AEAA3}" dt="2026-07-08T08:59:46.497" v="9" actId="1036"/>
        <pc:sldMkLst>
          <pc:docMk/>
          <pc:sldMk cId="0" sldId="270"/>
        </pc:sldMkLst>
        <pc:picChg chg="mod">
          <ac:chgData name="N DINESH KARTHIK" userId="22850fbb6fbe0d4e" providerId="LiveId" clId="{ABF74A30-45DF-4EAE-AB19-7ABFB46AEAA3}" dt="2026-07-08T08:59:46.497" v="9" actId="1036"/>
          <ac:picMkLst>
            <pc:docMk/>
            <pc:sldMk cId="0" sldId="270"/>
            <ac:picMk id="2" creationId="{00000000-0000-0000-0000-000000000000}"/>
          </ac:picMkLst>
        </pc:picChg>
      </pc:sldChg>
      <pc:sldChg chg="modSp mod">
        <pc:chgData name="N DINESH KARTHIK" userId="22850fbb6fbe0d4e" providerId="LiveId" clId="{ABF74A30-45DF-4EAE-AB19-7ABFB46AEAA3}" dt="2026-07-08T09:03:16.032" v="23" actId="1076"/>
        <pc:sldMkLst>
          <pc:docMk/>
          <pc:sldMk cId="0" sldId="272"/>
        </pc:sldMkLst>
        <pc:spChg chg="mod">
          <ac:chgData name="N DINESH KARTHIK" userId="22850fbb6fbe0d4e" providerId="LiveId" clId="{ABF74A30-45DF-4EAE-AB19-7ABFB46AEAA3}" dt="2026-07-08T09:03:16.032" v="23" actId="1076"/>
          <ac:spMkLst>
            <pc:docMk/>
            <pc:sldMk cId="0" sldId="272"/>
            <ac:spMk id="5" creationId="{00000000-0000-0000-0000-000000000000}"/>
          </ac:spMkLst>
        </pc:spChg>
      </pc:sldChg>
      <pc:sldChg chg="modSp mod">
        <pc:chgData name="N DINESH KARTHIK" userId="22850fbb6fbe0d4e" providerId="LiveId" clId="{ABF74A30-45DF-4EAE-AB19-7ABFB46AEAA3}" dt="2026-07-08T09:03:07.664" v="22" actId="1076"/>
        <pc:sldMkLst>
          <pc:docMk/>
          <pc:sldMk cId="0" sldId="273"/>
        </pc:sldMkLst>
        <pc:spChg chg="mod">
          <ac:chgData name="N DINESH KARTHIK" userId="22850fbb6fbe0d4e" providerId="LiveId" clId="{ABF74A30-45DF-4EAE-AB19-7ABFB46AEAA3}" dt="2026-07-08T09:03:07.664" v="22" actId="1076"/>
          <ac:spMkLst>
            <pc:docMk/>
            <pc:sldMk cId="0" sldId="273"/>
            <ac:spMk id="5" creationId="{00000000-0000-0000-0000-000000000000}"/>
          </ac:spMkLst>
        </pc:spChg>
      </pc:sldChg>
      <pc:sldChg chg="addSp delSp modSp mod">
        <pc:chgData name="N DINESH KARTHIK" userId="22850fbb6fbe0d4e" providerId="LiveId" clId="{ABF74A30-45DF-4EAE-AB19-7ABFB46AEAA3}" dt="2026-07-08T09:02:57.860" v="21" actId="14100"/>
        <pc:sldMkLst>
          <pc:docMk/>
          <pc:sldMk cId="0" sldId="274"/>
        </pc:sldMkLst>
        <pc:spChg chg="mod">
          <ac:chgData name="N DINESH KARTHIK" userId="22850fbb6fbe0d4e" providerId="LiveId" clId="{ABF74A30-45DF-4EAE-AB19-7ABFB46AEAA3}" dt="2026-07-08T09:02:53.723" v="20" actId="1076"/>
          <ac:spMkLst>
            <pc:docMk/>
            <pc:sldMk cId="0" sldId="274"/>
            <ac:spMk id="5" creationId="{00000000-0000-0000-0000-000000000000}"/>
          </ac:spMkLst>
        </pc:spChg>
        <pc:picChg chg="del">
          <ac:chgData name="N DINESH KARTHIK" userId="22850fbb6fbe0d4e" providerId="LiveId" clId="{ABF74A30-45DF-4EAE-AB19-7ABFB46AEAA3}" dt="2026-07-08T09:00:03.583" v="10" actId="478"/>
          <ac:picMkLst>
            <pc:docMk/>
            <pc:sldMk cId="0" sldId="274"/>
            <ac:picMk id="6" creationId="{00000000-0000-0000-0000-000000000000}"/>
          </ac:picMkLst>
        </pc:picChg>
        <pc:picChg chg="add mod">
          <ac:chgData name="N DINESH KARTHIK" userId="22850fbb6fbe0d4e" providerId="LiveId" clId="{ABF74A30-45DF-4EAE-AB19-7ABFB46AEAA3}" dt="2026-07-08T09:02:57.860" v="21" actId="14100"/>
          <ac:picMkLst>
            <pc:docMk/>
            <pc:sldMk cId="0" sldId="274"/>
            <ac:picMk id="8" creationId="{26CF80E5-CADF-38B4-D8EA-9B3D31475659}"/>
          </ac:picMkLst>
        </pc:picChg>
      </pc:sldChg>
      <pc:sldChg chg="addSp delSp modSp mod">
        <pc:chgData name="N DINESH KARTHIK" userId="22850fbb6fbe0d4e" providerId="LiveId" clId="{ABF74A30-45DF-4EAE-AB19-7ABFB46AEAA3}" dt="2026-07-08T09:02:45.552" v="19" actId="1076"/>
        <pc:sldMkLst>
          <pc:docMk/>
          <pc:sldMk cId="0" sldId="275"/>
        </pc:sldMkLst>
        <pc:spChg chg="mod">
          <ac:chgData name="N DINESH KARTHIK" userId="22850fbb6fbe0d4e" providerId="LiveId" clId="{ABF74A30-45DF-4EAE-AB19-7ABFB46AEAA3}" dt="2026-07-08T09:02:45.552" v="19" actId="1076"/>
          <ac:spMkLst>
            <pc:docMk/>
            <pc:sldMk cId="0" sldId="275"/>
            <ac:spMk id="5" creationId="{00000000-0000-0000-0000-000000000000}"/>
          </ac:spMkLst>
        </pc:spChg>
        <pc:picChg chg="del">
          <ac:chgData name="N DINESH KARTHIK" userId="22850fbb6fbe0d4e" providerId="LiveId" clId="{ABF74A30-45DF-4EAE-AB19-7ABFB46AEAA3}" dt="2026-07-08T09:01:00.246" v="12" actId="478"/>
          <ac:picMkLst>
            <pc:docMk/>
            <pc:sldMk cId="0" sldId="275"/>
            <ac:picMk id="6" creationId="{00000000-0000-0000-0000-000000000000}"/>
          </ac:picMkLst>
        </pc:picChg>
        <pc:picChg chg="add mod">
          <ac:chgData name="N DINESH KARTHIK" userId="22850fbb6fbe0d4e" providerId="LiveId" clId="{ABF74A30-45DF-4EAE-AB19-7ABFB46AEAA3}" dt="2026-07-08T09:01:20.995" v="15" actId="1076"/>
          <ac:picMkLst>
            <pc:docMk/>
            <pc:sldMk cId="0" sldId="275"/>
            <ac:picMk id="8" creationId="{CA05D498-68CF-7E7B-34B6-3F1C9FF5359F}"/>
          </ac:picMkLst>
        </pc:picChg>
      </pc:sldChg>
      <pc:sldChg chg="modSp mod">
        <pc:chgData name="N DINESH KARTHIK" userId="22850fbb6fbe0d4e" providerId="LiveId" clId="{ABF74A30-45DF-4EAE-AB19-7ABFB46AEAA3}" dt="2026-07-08T09:02:37.662" v="18" actId="1076"/>
        <pc:sldMkLst>
          <pc:docMk/>
          <pc:sldMk cId="0" sldId="276"/>
        </pc:sldMkLst>
        <pc:spChg chg="mod">
          <ac:chgData name="N DINESH KARTHIK" userId="22850fbb6fbe0d4e" providerId="LiveId" clId="{ABF74A30-45DF-4EAE-AB19-7ABFB46AEAA3}" dt="2026-07-08T09:02:37.662" v="18" actId="1076"/>
          <ac:spMkLst>
            <pc:docMk/>
            <pc:sldMk cId="0" sldId="27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575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Georgia"/>
              </a:rPr>
              <a:t>TRACECROP: CROP TRACEABILITY AND
SUPPLY CHAIN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4114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Calibri"/>
              </a:rPr>
              <a:t>Adabala Pushkaran
</a:t>
            </a:r>
            <a:r>
              <a:rPr sz="1400">
                <a:solidFill>
                  <a:srgbClr val="505050"/>
                </a:solidFill>
                <a:latin typeface="Calibri"/>
              </a:rPr>
              <a:t>B.Tech (Computer Science &amp; Engineering)
Hall Ticket: 24EG105R65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38912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Calibri"/>
              </a:rPr>
              <a:t>Project Guide
</a:t>
            </a:r>
            <a:r>
              <a:rPr sz="1400">
                <a:solidFill>
                  <a:srgbClr val="505050"/>
                </a:solidFill>
                <a:latin typeface="Calibri"/>
              </a:rPr>
              <a:t>Name
Designation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1.  Introduction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2.  Problem Statement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3.  Objectives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4.  Scope of the Project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5.  Existing System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6.  Proposed System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7.  Software &amp; Hardware Requirements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8. 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9.  Flowchart &amp; Algorithm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10. Modules Description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11. Results / Output Screens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12. Advantages &amp; Limitations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13. Future Enhancements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14. Conclusion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15.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Modern Cloud-Based Solution: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TraceCrop is a web-based agricultural crop traceability and supply chain management system.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Addresses transparency, trust, and accountability in agricultural transactions.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Connected Stakeholder Ecosystem: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Dynamically links farmers, quality auditors, distributors, government authorities, and consumers.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Replaces isolated workflows with a unified database structure.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Advanced Serverless Backend: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Built with a serverless architecture using Firebase Authentication and Cloud Firestore.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Real-time synchronization ensures that all updates are immediately visible to authorized stakeholders.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Paper-Based &amp; Disconnected Records: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Supply chain data is often fragmented across physical logs, verbal agreements, or isolated local software.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Manual recording increases data errors, delays, and exposes records to physical damage or tampering.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Lack of Consumer Transparency: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End consumers have no reliable means to verify the crop origin, quality grades, or logistics timeline.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Inability to verify authenticity leads to product counterfeit risks and lower consumer trust.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Inefficient Stakeholder Communication: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Farmers, distributors, and auditors work in silos, relying on manual check-ins and separate databases.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Technical barriers, such as exposing complex database document IDs, reduce system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3.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Centralized Ledger Database: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Implement a centralized Cloud Firestore database that stores real-time records for all crops and users.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Secure Role-Based Access Control: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Implement secure signup and authentication to redirect stakeholders to customized role dashboards.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Friendly Identifiers &amp; Usability: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Generate readable user public IDs (e.g. FARM-AB12) and crop batch codes (e.g. TRC-2026-M7X2) to improve data searching and communication.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Public Crop Traceability: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Allow public consumers to search crop batch codes and trace the product journey, quality grades, and logistics status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4. Scope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In-Scope Features: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Authentication:</a:t>
            </a:r>
            <a:r>
              <a:rPr sz="1600">
                <a:solidFill>
                  <a:srgbClr val="323232"/>
                </a:solidFill>
                <a:latin typeface="Calibri"/>
              </a:rPr>
              <a:t> User registration, Google Sign-in, and role-based routing.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Farmer Module:</a:t>
            </a:r>
            <a:r>
              <a:rPr sz="1600">
                <a:solidFill>
                  <a:srgbClr val="323232"/>
                </a:solidFill>
                <a:latin typeface="Calibri"/>
              </a:rPr>
              <a:t> Crop registration, batch code generation, and crop transfer.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Auditor Module:</a:t>
            </a:r>
            <a:r>
              <a:rPr sz="1600">
                <a:solidFill>
                  <a:srgbClr val="323232"/>
                </a:solidFill>
                <a:latin typeface="Calibri"/>
              </a:rPr>
              <a:t> Crop inspection, grading, notes, and laboratory report linking.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Distributor Module:</a:t>
            </a:r>
            <a:r>
              <a:rPr sz="1600">
                <a:solidFill>
                  <a:srgbClr val="323232"/>
                </a:solidFill>
                <a:latin typeface="Calibri"/>
              </a:rPr>
              <a:t> Transfer acceptance, transit status, and current location tracking.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Government Module:</a:t>
            </a:r>
            <a:r>
              <a:rPr sz="1600">
                <a:solidFill>
                  <a:srgbClr val="323232"/>
                </a:solidFill>
                <a:latin typeface="Calibri"/>
              </a:rPr>
              <a:t> Centralized oversight, National Registry table, and high-level crop metrics.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Consumer View:</a:t>
            </a:r>
            <a:r>
              <a:rPr sz="1600">
                <a:solidFill>
                  <a:srgbClr val="323232"/>
                </a:solidFill>
                <a:latin typeface="Calibri"/>
              </a:rPr>
              <a:t> Public lookup page retrieving complete crop journey timeline.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Out-of-Scope (Future Enhancements):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Blockchain network integration, IoT sensor tracking, automated QR code generation, mobile apps.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5. 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Manual Ledgers &amp; Disconnected Apps: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Existing systems rely heavily on manual paper-based logs or disconnected local database apps.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Highly vulnerable to data loss, physical damage, and unauthorized record modification.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Zero Visibility &amp; Fragmented Communication: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Minimal data sharing between farmers, auditors, and distributors leads to delayed updates.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Consumers have no access to product journeys, causing lack of market trust.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Comparison Table: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604425"/>
              </p:ext>
            </p:extLst>
          </p:nvPr>
        </p:nvGraphicFramePr>
        <p:xfrm>
          <a:off x="1371600" y="4206240"/>
          <a:ext cx="90754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4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9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301">
                <a:tc>
                  <a:txBody>
                    <a:bodyPr/>
                    <a:lstStyle/>
                    <a:p>
                      <a:pPr algn="ctr"/>
                      <a:r>
                        <a:t>Feature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Existing Systems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Proposed TraceCrop System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7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Record-Keeping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Paper-based or isolated digital databases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Centralized, real-time Cloud Firestore database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47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Consumer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1E1E1E"/>
                          </a:solidFill>
                          <a:latin typeface="Calibri"/>
                        </a:rPr>
                        <a:t>No public access to product 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Public trace portal using crop batch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47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Identifiers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Long, complex technical database UIDs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Short, readable public IDs and batch codes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47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Weak access controls, susceptible to 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Firebase Auth &amp; strict role-based Firestore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47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Notifications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Manual communication (calls/texts/emails)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1E1E1E"/>
                          </a:solidFill>
                          <a:latin typeface="Calibri"/>
                        </a:rPr>
                        <a:t>Animated toast notifications for instant UX feedback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6.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Centralized Cloud Ledger Architecture: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Integrates all participants (Farmers, Auditors, Distributors, Govt, Consumers) into a single database.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Ensures single-source of truth via real-time Cloud Firestore listeners.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Decoupled and Rationalized Workflows: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Crop registration and distributor transfer are separated to match natural agricultural processes.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Farmers register crops first; distributor IDs are validated and assigned subsequently.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Security and Access Boundaries: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Stakeholder operations restricted using server-side security rules matching user roles.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Hides database keys, using public IDs to simplify searches and transfer transactions.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7. Software &amp; Hardware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System Requirements Table: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2011680"/>
          <a:ext cx="94457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t>Category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System Requirement Spec</a:t>
                      </a:r>
                    </a:p>
                  </a:txBody>
                  <a:tcPr>
                    <a:solidFill>
                      <a:srgbClr val="0055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Frontend UI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HTML5, CSS3, JavaScript (ES Modules), Tailwind CSS CDN, Google Material Symbols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Cloud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Firebase Authentication, Cloud Firestore NoSQL Database, Firebase Hosting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Development Tools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Visual Studio Code, Git, Browser Developer Tools, PowerShell CLI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Browser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Chrome, Edge, Firefox, Safari or any modern browser with ES module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Minimum Hardware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Intel/AMD Dual-Core Processor, 4 GB RAM, active Internet Connection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Operating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Windows 10/11, macOS, or Linux distributions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8.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Client-Server Architecture (BaaS):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Presentation Layer:</a:t>
            </a:r>
            <a:r>
              <a:rPr sz="1600">
                <a:solidFill>
                  <a:srgbClr val="323232"/>
                </a:solidFill>
                <a:latin typeface="Calibri"/>
              </a:rPr>
              <a:t> HTML5 structures styled with responsive Tailwind CSS components.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Logic Layer:</a:t>
            </a:r>
            <a:r>
              <a:rPr sz="1600">
                <a:solidFill>
                  <a:srgbClr val="323232"/>
                </a:solidFill>
                <a:latin typeface="Calibri"/>
              </a:rPr>
              <a:t> Event handlers, UI controllers, and Firebase modules imported in JS scripts.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Database &amp; Security:</a:t>
            </a:r>
            <a:r>
              <a:rPr sz="1600">
                <a:solidFill>
                  <a:srgbClr val="323232"/>
                </a:solidFill>
                <a:latin typeface="Calibri"/>
              </a:rPr>
              <a:t> Cloud Firestore storing data; Firestore Security Rules restricting writes.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Data Model Schema (Firestore):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users Collection:</a:t>
            </a:r>
            <a:r>
              <a:rPr sz="1600">
                <a:solidFill>
                  <a:srgbClr val="323232"/>
                </a:solidFill>
                <a:latin typeface="Calibri"/>
              </a:rPr>
              <a:t> {fullName, email, role, publicId, createdAt}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crops Collection:</a:t>
            </a:r>
            <a:r>
              <a:rPr sz="1600">
                <a:solidFill>
                  <a:srgbClr val="323232"/>
                </a:solidFill>
                <a:latin typeface="Calibri"/>
              </a:rPr>
              <a:t> {batchCode, name, variety, sowingDate, location, fertilizers, farmerId, farmerPublicId, distributorId, distributorPublicId, status, qualityGrade, auditNotes, reportUrl, auditedAt, imageUrl, createdAt, lastUpdated}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9. Flowchart &amp;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Lifecycle Flow of Crop Batch Document: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1. SOWING: Farmer registers crop details -&gt; System generates batch code -&gt; Status set to 'Unassigned'.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2. ASSIGNMENT: Farmer enters distributor public ID -&gt; App validates ID -&gt; Document assigned to distributor.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3. INSPECTION: Auditor searches crop -&gt; Submits quality grade, notes, and report -&gt; Status updated.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4. TRANSIT: Distributor accepts shipment -&gt; Updates location and status ('In Transit', 'Stored', 'Delivered').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 dirty="0">
                <a:solidFill>
                  <a:srgbClr val="0055B3"/>
                </a:solidFill>
                <a:latin typeface="Calibri"/>
              </a:rPr>
              <a:t>  5. TRACE: Consumer searches batch code -&gt; Retrieves timeline of cultivation, audit, and transit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6726" y="5676900"/>
            <a:ext cx="1303020" cy="769620"/>
          </a:xfrm>
          <a:prstGeom prst="roundRect">
            <a:avLst/>
          </a:prstGeom>
          <a:solidFill>
            <a:srgbClr val="0055B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Farmer
</a:t>
            </a:r>
          </a:p>
          <a:p>
            <a:pPr algn="ctr"/>
            <a:r>
              <a:rPr sz="1000" dirty="0">
                <a:solidFill>
                  <a:srgbClr val="F0F0F0"/>
                </a:solidFill>
              </a:rPr>
              <a:t>Crop
Registration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6040" y="5920740"/>
            <a:ext cx="274320" cy="36576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8366" y="5676900"/>
            <a:ext cx="1303020" cy="815340"/>
          </a:xfrm>
          <a:prstGeom prst="roundRect">
            <a:avLst/>
          </a:prstGeom>
          <a:solidFill>
            <a:srgbClr val="C00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Transfer
</a:t>
            </a:r>
          </a:p>
          <a:p>
            <a:pPr algn="ctr"/>
            <a:r>
              <a:rPr sz="1000" dirty="0">
                <a:solidFill>
                  <a:srgbClr val="F0F0F0"/>
                </a:solidFill>
              </a:rPr>
              <a:t>Assign
Distributor ID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85666" y="5920740"/>
            <a:ext cx="274320" cy="36576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95419" y="5676900"/>
            <a:ext cx="1303020" cy="815340"/>
          </a:xfrm>
          <a:prstGeom prst="roundRect">
            <a:avLst/>
          </a:prstGeom>
          <a:solidFill>
            <a:srgbClr val="0055B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Auditor
</a:t>
            </a:r>
          </a:p>
          <a:p>
            <a:pPr algn="ctr"/>
            <a:r>
              <a:rPr sz="1000" dirty="0">
                <a:solidFill>
                  <a:srgbClr val="F0F0F0"/>
                </a:solidFill>
              </a:rPr>
              <a:t>Quality Audit
&amp; Grading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75579" y="5920740"/>
            <a:ext cx="274320" cy="36576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57900" y="5676900"/>
            <a:ext cx="1303020" cy="815340"/>
          </a:xfrm>
          <a:prstGeom prst="roundRect">
            <a:avLst/>
          </a:prstGeom>
          <a:solidFill>
            <a:srgbClr val="C00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Distributor
</a:t>
            </a:r>
          </a:p>
          <a:p>
            <a:pPr algn="ctr"/>
            <a:r>
              <a:rPr sz="1000">
                <a:solidFill>
                  <a:srgbClr val="F0F0F0"/>
                </a:solidFill>
              </a:rPr>
              <a:t>Shipment
&amp; Transit Updates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257593" y="5897880"/>
            <a:ext cx="274320" cy="36576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36408" y="5669280"/>
            <a:ext cx="1399032" cy="822960"/>
          </a:xfrm>
          <a:prstGeom prst="roundRect">
            <a:avLst/>
          </a:prstGeom>
          <a:solidFill>
            <a:srgbClr val="0055B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Consumer
</a:t>
            </a:r>
          </a:p>
          <a:p>
            <a:pPr algn="ctr"/>
            <a:r>
              <a:rPr sz="1000" dirty="0">
                <a:solidFill>
                  <a:srgbClr val="F0F0F0"/>
                </a:solidFill>
              </a:rPr>
              <a:t>Public Trace
Journey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10. Modules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Farmer Module: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Allows digital crop registration, crop list viewing, crop deletion, and post-registration transfer.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Quality Auditor Module: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Features crop batch search by ID/name/variety; enables grading (Grade A, B, Rejected) and remarks.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Distributor Module: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Displays transfer requests; allows distributors to accept ownership and update transit status/location.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Government Module: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Centralized monitoring dashboard displaying global crop counts, audit grades, and national crop registry.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Consumer Module &amp; Notifications: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Consumer View allows public search and journey lookup. Notifications module provides toast alerts.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11. Results / Output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Signup &amp; Login Pages: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Responsive forms allowing users to sign up with roles (Farmer, Auditor, etc.) or log in via Google.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Farmer Dashboard: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Features crop list cards showing batch codes and a dedicated post-registration transfer modal.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Quality Auditor Dashboard: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Contains real-time search filters, quality checkboxes, and a form to submit audit certificates.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Distributor &amp; Government Dashboards: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Distributor:</a:t>
            </a:r>
            <a:r>
              <a:rPr sz="1600">
                <a:solidFill>
                  <a:srgbClr val="323232"/>
                </a:solidFill>
                <a:latin typeface="Calibri"/>
              </a:rPr>
              <a:t> Table for incoming shipments; Government: Summary analytics cards and national database registry.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Consumer Trace View: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Displays crop images, detailed origin information, audit grades, and an interactive journey timeline.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System UI: Landing Page</a:t>
            </a:r>
          </a:p>
        </p:txBody>
      </p:sp>
      <p:pic>
        <p:nvPicPr>
          <p:cNvPr id="6" name="Picture 5" descr="landing_page.png"/>
          <p:cNvPicPr>
            <a:picLocks noChangeAspect="1"/>
          </p:cNvPicPr>
          <p:nvPr/>
        </p:nvPicPr>
        <p:blipFill>
          <a:blip r:embed="rId3"/>
          <a:srcRect b="81188"/>
          <a:stretch>
            <a:fillRect/>
          </a:stretch>
        </p:blipFill>
        <p:spPr>
          <a:xfrm>
            <a:off x="3546348" y="1463039"/>
            <a:ext cx="4774692" cy="46867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System UI: User Signup</a:t>
            </a:r>
          </a:p>
        </p:txBody>
      </p:sp>
      <p:pic>
        <p:nvPicPr>
          <p:cNvPr id="6" name="Picture 5" descr="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99" y="1463040"/>
            <a:ext cx="3386296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System UI: User Login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408" y="1463040"/>
            <a:ext cx="4334877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9144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Georgia"/>
              </a:rPr>
              <a:t>System UI: Farmer Dashboard (Crop Registration)</a:t>
            </a:r>
          </a:p>
        </p:txBody>
      </p:sp>
      <p:pic>
        <p:nvPicPr>
          <p:cNvPr id="6" name="Picture 5" descr="farm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174" y="1463040"/>
            <a:ext cx="4339346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Georgia"/>
              </a:rPr>
              <a:t>System UI: Quality Auditor Dashboard (Grading)</a:t>
            </a:r>
          </a:p>
        </p:txBody>
      </p:sp>
      <p:pic>
        <p:nvPicPr>
          <p:cNvPr id="6" name="Picture 5" descr="quality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976" y="1463040"/>
            <a:ext cx="868774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5869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Georgia"/>
              </a:rPr>
              <a:t>System UI: Distributor Dashboard (Logistics &amp; Tracking)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F80E5-CADF-38B4-D8EA-9B3D31475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225" y="1607820"/>
            <a:ext cx="9144502" cy="40502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46847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Georgia"/>
              </a:rPr>
              <a:t>System UI: Government Dashboard (Oversight)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05D498-68CF-7E7B-34B6-3F1C9FF53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20" y="1395487"/>
            <a:ext cx="9030202" cy="44378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6868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Georgia"/>
              </a:rPr>
              <a:t>System UI: Consumer Trace View (Public Journey)</a:t>
            </a:r>
          </a:p>
        </p:txBody>
      </p:sp>
      <p:pic>
        <p:nvPicPr>
          <p:cNvPr id="6" name="Picture 5" descr="consumer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638" y="1463040"/>
            <a:ext cx="4330417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12. Advantages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Project Advantages: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Real-Time Supply Chain Tracking:</a:t>
            </a:r>
            <a:r>
              <a:rPr sz="1600">
                <a:solidFill>
                  <a:srgbClr val="323232"/>
                </a:solidFill>
                <a:latin typeface="Calibri"/>
              </a:rPr>
              <a:t> Instant database synchronization across all dashboard users.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Role-Specific Dashboards:</a:t>
            </a:r>
            <a:r>
              <a:rPr sz="1600">
                <a:solidFill>
                  <a:srgbClr val="323232"/>
                </a:solidFill>
                <a:latin typeface="Calibri"/>
              </a:rPr>
              <a:t> Personalized interfaces match exact user responsibilities, reducing clutter.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User-Friendly Identifiers:</a:t>
            </a:r>
            <a:r>
              <a:rPr sz="1600">
                <a:solidFill>
                  <a:srgbClr val="323232"/>
                </a:solidFill>
                <a:latin typeface="Calibri"/>
              </a:rPr>
              <a:t> Readable batch codes and public IDs hide long, confusing database UIDs.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Premium UX Elements:</a:t>
            </a:r>
            <a:r>
              <a:rPr sz="1600">
                <a:solidFill>
                  <a:srgbClr val="323232"/>
                </a:solidFill>
                <a:latin typeface="Calibri"/>
              </a:rPr>
              <a:t> Responsive CSS layouts and animated toast notifications improve feedback.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Project Limitations: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Sandbox/Prototype Database:</a:t>
            </a:r>
            <a:r>
              <a:rPr sz="1600">
                <a:solidFill>
                  <a:srgbClr val="323232"/>
                </a:solidFill>
                <a:latin typeface="Calibri"/>
              </a:rPr>
              <a:t> Uses centralized Firestore; does not run on a physical blockchain network.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Static QR-Codes:</a:t>
            </a:r>
            <a:r>
              <a:rPr sz="1600">
                <a:solidFill>
                  <a:srgbClr val="323232"/>
                </a:solidFill>
                <a:latin typeface="Calibri"/>
              </a:rPr>
              <a:t> QR code generation and direct mobile camera scanning are not yet implemented.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Basic Analytics:</a:t>
            </a:r>
            <a:r>
              <a:rPr sz="1600">
                <a:solidFill>
                  <a:srgbClr val="323232"/>
                </a:solidFill>
                <a:latin typeface="Calibri"/>
              </a:rPr>
              <a:t> Advanced trend charts and exportable PDF audit files are left for future 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13. 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Blockchain Anchoring for Tamper-Evidence: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Hash quality reports and transaction logs onto a public ledger (e.g. Ethereum/Hyperledger) for absolute trust.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Automated QR Code Generation: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Render QR codes for each crop batch, enabling quick scanning via smartphones to retrieve trace pages.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Progressive Web App (PWA) Offline Support: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Allow farmers to log data offline in farms with poor connectivity and sync once they go online.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Advanced Government &amp; Distributor Analytics: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Implement analytical charts showing crop yield distribution, quality trends, and logistics efficiency.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14.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Successful Cloud-Based Prototype: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TraceCrop successfully connects all key supply chain actors in a unified, role-based cloud system.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Usability &amp; Accountability: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Separating registration from transfer matches real-world workflows, and public IDs improve usability.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Quality inspections are permanently recorded and visible to consumers, promoting accountability.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Strong Foundation for Production: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Demonstrates how modern web technologies (HTML5, CSS3, JS) and cloud backends (Firebase) can be combined to solve trust challenges in agricultural supply chains. Ready for future blockchain/IoT scaling.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urag_bg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Georgia"/>
              </a:rPr>
              <a:t>15.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Firebase Documentation: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Google Cloud Firestore documentation, Real-time Sync listeners, and Firebase Security Rules.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MDN Web Docs: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HTML5 structure definitions, CSS3 properties, and modern JavaScript ES Module specifications.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Tailwind CSS CDN Reference: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Utility-first CSS classes and responsive layout structure rules.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Google Material Symbols Icon Registry: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Icon library utilized for dashboard navigation and status representation.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0055B3"/>
                </a:solidFill>
                <a:latin typeface="Calibri"/>
              </a:rPr>
              <a:t>Project Source Code &amp; Configuration Files: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323232"/>
                </a:solidFill>
                <a:latin typeface="Calibri"/>
              </a:rPr>
              <a:t>TraceCrop database schemas, firebase-config.js, firestore.rules, and dashboard html scripts.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2001</Words>
  <Application>Microsoft Office PowerPoint</Application>
  <PresentationFormat>Widescreen</PresentationFormat>
  <Paragraphs>253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 DINESH KARTHIK</cp:lastModifiedBy>
  <cp:revision>1</cp:revision>
  <dcterms:created xsi:type="dcterms:W3CDTF">2013-01-27T09:14:16Z</dcterms:created>
  <dcterms:modified xsi:type="dcterms:W3CDTF">2026-07-08T09:05:54Z</dcterms:modified>
  <cp:category/>
</cp:coreProperties>
</file>